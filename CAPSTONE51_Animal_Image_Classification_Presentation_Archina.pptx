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548640"/>
            <a:ext cx="2194560" cy="2194560"/>
          </a:xfrm>
          <a:prstGeom prst="ellipse">
            <a:avLst/>
          </a:prstGeom>
          <a:solidFill>
            <a:srgbClr val="705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2103120"/>
            <a:ext cx="1371600" cy="1371600"/>
          </a:xfrm>
          <a:prstGeom prst="ellipse">
            <a:avLst/>
          </a:prstGeom>
          <a:solidFill>
            <a:srgbClr val="37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2926080"/>
            <a:ext cx="1005840" cy="1005840"/>
          </a:xfrm>
          <a:prstGeom prst="ellipse">
            <a:avLst/>
          </a:prstGeom>
          <a:solidFill>
            <a:srgbClr val="DE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24160" y="4114800"/>
            <a:ext cx="731520" cy="731520"/>
          </a:xfrm>
          <a:prstGeom prst="ellipse">
            <a:avLst/>
          </a:prstGeom>
          <a:solidFill>
            <a:srgbClr val="B04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7132320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CBBEEA"/>
                </a:solidFill>
                <a:latin typeface="Aptos"/>
              </a:defRPr>
            </a:pPr>
            <a:r>
              <a:t>CAPSTONE PROJECT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7406640" cy="1645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Image Classification</a:t>
            </a:r>
          </a:p>
          <a:p>
            <a:pPr algn="l">
              <a:spcAft>
                <a:spcPts val="7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Mini-Project with Hugging 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03320"/>
            <a:ext cx="6675120" cy="5943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DADEEB"/>
                </a:solidFill>
                <a:latin typeface="Aptos"/>
              </a:defRPr>
            </a:pPr>
            <a:r>
              <a:t>CLIP • Oxford-IIIT Pet Dataset •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709160"/>
            <a:ext cx="621792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Presenter: Archina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080760"/>
            <a:ext cx="612648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CBBEEA"/>
                </a:solidFill>
                <a:latin typeface="Aptos"/>
              </a:defRPr>
            </a:pPr>
            <a:r>
              <a:t>Experiment summary and responsible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92744"/>
                </a:solidFill>
                <a:latin typeface="Aptos"/>
              </a:defRPr>
            </a:pPr>
            <a:r>
              <a:t>01  |  Introduction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696C78"/>
                </a:solidFill>
                <a:latin typeface="Aptos"/>
              </a:defRPr>
            </a:pPr>
            <a:r>
              <a:t>What the project explores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777240" cy="54864"/>
          </a:xfrm>
          <a:prstGeom prst="rect">
            <a:avLst/>
          </a:prstGeom>
          <a:solidFill>
            <a:srgbClr val="705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96C78"/>
                </a:solidFill>
                <a:latin typeface="Aptos"/>
              </a:defRPr>
            </a:pPr>
            <a:r>
              <a:t>02 /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73152" cy="3566160"/>
          </a:xfrm>
          <a:prstGeom prst="rect">
            <a:avLst/>
          </a:prstGeom>
          <a:solidFill>
            <a:srgbClr val="705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92224"/>
            <a:ext cx="4754879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92744"/>
                </a:solidFill>
                <a:latin typeface="Aptos"/>
              </a:defRPr>
            </a:pPr>
            <a:r>
              <a:t>What is image classification?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12848"/>
            <a:ext cx="4754879" cy="2907791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A computer vision task that assigns a label to an image.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CLIP compares an image with text descriptions and scores candidate labels.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1206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45920"/>
            <a:ext cx="73152" cy="3566160"/>
          </a:xfrm>
          <a:prstGeom prst="rect">
            <a:avLst/>
          </a:prstGeom>
          <a:solidFill>
            <a:srgbClr val="37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792224"/>
            <a:ext cx="4754879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92744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212848"/>
            <a:ext cx="4754879" cy="2907791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• Run a pretrained vision-language model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• Explore zero-shot classification with text prompts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• Compare predictions with dataset labels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• Record an error and discuss 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23560"/>
            <a:ext cx="1060704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7053A6"/>
                </a:solidFill>
                <a:latin typeface="Aptos"/>
              </a:defRPr>
            </a:pPr>
            <a:r>
              <a:t>Model: openai/clip-vit-base-patch32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92744"/>
                </a:solidFill>
                <a:latin typeface="Aptos"/>
              </a:defRPr>
            </a:pPr>
            <a:r>
              <a:t>02  |  Tools &amp;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696C78"/>
                </a:solidFill>
                <a:latin typeface="Aptos"/>
              </a:defRPr>
            </a:pPr>
            <a:r>
              <a:t>Experiment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777240" cy="54864"/>
          </a:xfrm>
          <a:prstGeom prst="rect">
            <a:avLst/>
          </a:prstGeom>
          <a:solidFill>
            <a:srgbClr val="705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96C78"/>
                </a:solidFill>
                <a:latin typeface="Aptos"/>
              </a:defRPr>
            </a:pPr>
            <a:r>
              <a:t>03 /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73152" cy="3474720"/>
          </a:xfrm>
          <a:prstGeom prst="rect">
            <a:avLst/>
          </a:prstGeom>
          <a:solidFill>
            <a:srgbClr val="705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92224"/>
            <a:ext cx="306324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92744"/>
                </a:solidFill>
                <a:latin typeface="Aptos"/>
              </a:defRPr>
            </a:pPr>
            <a:r>
              <a:t>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12848"/>
            <a:ext cx="3063240" cy="281635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Python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Google Colab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Hugging Face Transformers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PyTorch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GitHub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73152" cy="3474720"/>
          </a:xfrm>
          <a:prstGeom prst="rect">
            <a:avLst/>
          </a:prstGeom>
          <a:solidFill>
            <a:srgbClr val="37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792224"/>
            <a:ext cx="306324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92744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12848"/>
            <a:ext cx="3063240" cy="281635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Oxford-IIIT Pet Dataset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Cats and dogs across 37 breeds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Test split: 3,669 images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290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73152" cy="3474720"/>
          </a:xfrm>
          <a:prstGeom prst="rect">
            <a:avLst/>
          </a:prstGeom>
          <a:solidFill>
            <a:srgbClr val="DE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792224"/>
            <a:ext cx="306324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92744"/>
                </a:solidFill>
                <a:latin typeface="Aptos"/>
              </a:defRPr>
            </a:pPr>
            <a:r>
              <a:t>Evaluation sample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212848"/>
            <a:ext cx="3063240" cy="281635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20 selected test images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Predictions compared with breed labels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Results are sample-specific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596128"/>
            <a:ext cx="1069848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696C78"/>
                </a:solidFill>
                <a:latin typeface="Aptos"/>
              </a:defRPr>
            </a:pPr>
            <a:r>
              <a:t>Dataset reference: https://www.robots.ox.ac.uk/~vgg/data/pets/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92744"/>
                </a:solidFill>
                <a:latin typeface="Aptos"/>
              </a:defRPr>
            </a:pPr>
            <a:r>
              <a:t>03  | 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696C78"/>
                </a:solidFill>
                <a:latin typeface="Aptos"/>
              </a:defRPr>
            </a:pPr>
            <a:r>
              <a:t>From image input to measured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777240" cy="54864"/>
          </a:xfrm>
          <a:prstGeom prst="rect">
            <a:avLst/>
          </a:prstGeom>
          <a:solidFill>
            <a:srgbClr val="705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96C78"/>
                </a:solidFill>
                <a:latin typeface="Aptos"/>
              </a:defRPr>
            </a:pPr>
            <a:r>
              <a:t>04 /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29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73152" cy="1554480"/>
          </a:xfrm>
          <a:prstGeom prst="rect">
            <a:avLst/>
          </a:prstGeom>
          <a:solidFill>
            <a:srgbClr val="705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37944"/>
            <a:ext cx="306324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92744"/>
                </a:solidFill>
                <a:latin typeface="Aptos"/>
              </a:defRPr>
            </a:pPr>
            <a:r>
              <a:t>Load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58568"/>
            <a:ext cx="3063240" cy="8961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Load pretrained CLIP and its processor.</a:t>
            </a:r>
          </a:p>
        </p:txBody>
      </p:sp>
      <p:sp>
        <p:nvSpPr>
          <p:cNvPr id="10" name="Oval 9"/>
          <p:cNvSpPr/>
          <p:nvPr/>
        </p:nvSpPr>
        <p:spPr>
          <a:xfrm>
            <a:off x="3639312" y="1801368"/>
            <a:ext cx="347472" cy="347472"/>
          </a:xfrm>
          <a:prstGeom prst="ellipse">
            <a:avLst/>
          </a:prstGeom>
          <a:solidFill>
            <a:srgbClr val="705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5032" y="1837944"/>
            <a:ext cx="2286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691640"/>
            <a:ext cx="3429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691640"/>
            <a:ext cx="73152" cy="1554480"/>
          </a:xfrm>
          <a:prstGeom prst="rect">
            <a:avLst/>
          </a:prstGeom>
          <a:solidFill>
            <a:srgbClr val="37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1837944"/>
            <a:ext cx="306324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92744"/>
                </a:solidFill>
                <a:latin typeface="Aptos"/>
              </a:defRPr>
            </a:pPr>
            <a:r>
              <a:t>Prepare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258568"/>
            <a:ext cx="3063240" cy="8961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Load test images and breed labels.</a:t>
            </a:r>
          </a:p>
        </p:txBody>
      </p:sp>
      <p:sp>
        <p:nvSpPr>
          <p:cNvPr id="16" name="Oval 15"/>
          <p:cNvSpPr/>
          <p:nvPr/>
        </p:nvSpPr>
        <p:spPr>
          <a:xfrm>
            <a:off x="7434072" y="1801368"/>
            <a:ext cx="347472" cy="347472"/>
          </a:xfrm>
          <a:prstGeom prst="ellipse">
            <a:avLst/>
          </a:prstGeom>
          <a:solidFill>
            <a:srgbClr val="37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9792" y="1837944"/>
            <a:ext cx="2286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691640"/>
            <a:ext cx="3429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691640"/>
            <a:ext cx="73152" cy="1554480"/>
          </a:xfrm>
          <a:prstGeom prst="rect">
            <a:avLst/>
          </a:prstGeom>
          <a:solidFill>
            <a:srgbClr val="DE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1837944"/>
            <a:ext cx="306324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92744"/>
                </a:solidFill>
                <a:latin typeface="Aptos"/>
              </a:defRPr>
            </a:pPr>
            <a:r>
              <a:t>Predict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258568"/>
            <a:ext cx="3063240" cy="8961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Compare images with candidate text prompts.</a:t>
            </a:r>
          </a:p>
        </p:txBody>
      </p:sp>
      <p:sp>
        <p:nvSpPr>
          <p:cNvPr id="22" name="Oval 21"/>
          <p:cNvSpPr/>
          <p:nvPr/>
        </p:nvSpPr>
        <p:spPr>
          <a:xfrm>
            <a:off x="11228832" y="1801368"/>
            <a:ext cx="347472" cy="347472"/>
          </a:xfrm>
          <a:prstGeom prst="ellipse">
            <a:avLst/>
          </a:prstGeom>
          <a:solidFill>
            <a:srgbClr val="DE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74552" y="1837944"/>
            <a:ext cx="2286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657600"/>
            <a:ext cx="3429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657600"/>
            <a:ext cx="73152" cy="1554480"/>
          </a:xfrm>
          <a:prstGeom prst="rect">
            <a:avLst/>
          </a:prstGeom>
          <a:solidFill>
            <a:srgbClr val="705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3803904"/>
            <a:ext cx="306324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92744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4224528"/>
            <a:ext cx="3063240" cy="8961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Compare predictions with actual labels.</a:t>
            </a:r>
          </a:p>
        </p:txBody>
      </p:sp>
      <p:sp>
        <p:nvSpPr>
          <p:cNvPr id="28" name="Oval 27"/>
          <p:cNvSpPr/>
          <p:nvPr/>
        </p:nvSpPr>
        <p:spPr>
          <a:xfrm>
            <a:off x="3639312" y="3767328"/>
            <a:ext cx="347472" cy="347472"/>
          </a:xfrm>
          <a:prstGeom prst="ellipse">
            <a:avLst/>
          </a:prstGeom>
          <a:solidFill>
            <a:srgbClr val="705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85032" y="3803904"/>
            <a:ext cx="2286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3657600"/>
            <a:ext cx="3429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26280" y="3657600"/>
            <a:ext cx="73152" cy="1554480"/>
          </a:xfrm>
          <a:prstGeom prst="rect">
            <a:avLst/>
          </a:prstGeom>
          <a:solidFill>
            <a:srgbClr val="37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27448" y="3803904"/>
            <a:ext cx="306324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92744"/>
                </a:solidFill>
                <a:latin typeface="Aptos"/>
              </a:defRPr>
            </a:pPr>
            <a:r>
              <a:t>Compare prompts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27448" y="4224528"/>
            <a:ext cx="3063240" cy="8961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Repeat using an alternative prompt template.</a:t>
            </a:r>
          </a:p>
        </p:txBody>
      </p:sp>
      <p:sp>
        <p:nvSpPr>
          <p:cNvPr id="34" name="Oval 33"/>
          <p:cNvSpPr/>
          <p:nvPr/>
        </p:nvSpPr>
        <p:spPr>
          <a:xfrm>
            <a:off x="7434072" y="3767328"/>
            <a:ext cx="347472" cy="347472"/>
          </a:xfrm>
          <a:prstGeom prst="ellipse">
            <a:avLst/>
          </a:prstGeom>
          <a:solidFill>
            <a:srgbClr val="37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79792" y="3803904"/>
            <a:ext cx="2286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21040" y="3657600"/>
            <a:ext cx="3429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21040" y="3657600"/>
            <a:ext cx="73152" cy="1554480"/>
          </a:xfrm>
          <a:prstGeom prst="rect">
            <a:avLst/>
          </a:prstGeom>
          <a:solidFill>
            <a:srgbClr val="DE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22208" y="3803904"/>
            <a:ext cx="306324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92744"/>
                </a:solidFill>
                <a:latin typeface="Aptos"/>
              </a:defRPr>
            </a:pPr>
            <a:r>
              <a:t>Document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22208" y="4224528"/>
            <a:ext cx="3063240" cy="8961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Save CSV results and review the error.</a:t>
            </a:r>
          </a:p>
        </p:txBody>
      </p:sp>
      <p:sp>
        <p:nvSpPr>
          <p:cNvPr id="40" name="Oval 39"/>
          <p:cNvSpPr/>
          <p:nvPr/>
        </p:nvSpPr>
        <p:spPr>
          <a:xfrm>
            <a:off x="11228832" y="3767328"/>
            <a:ext cx="347472" cy="347472"/>
          </a:xfrm>
          <a:prstGeom prst="ellipse">
            <a:avLst/>
          </a:prstGeom>
          <a:solidFill>
            <a:srgbClr val="DE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274552" y="3803904"/>
            <a:ext cx="2286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92744"/>
                </a:solidFill>
                <a:latin typeface="Aptos"/>
              </a:defRPr>
            </a:pPr>
            <a:r>
              <a:t>04  | 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696C78"/>
                </a:solidFill>
                <a:latin typeface="Aptos"/>
              </a:defRPr>
            </a:pPr>
            <a:r>
              <a:t>Measured on the selected 20-image sample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777240" cy="54864"/>
          </a:xfrm>
          <a:prstGeom prst="rect">
            <a:avLst/>
          </a:prstGeom>
          <a:solidFill>
            <a:srgbClr val="705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96C78"/>
                </a:solidFill>
                <a:latin typeface="Aptos"/>
              </a:defRPr>
            </a:pPr>
            <a:r>
              <a:t>05 /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2971800" cy="5943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700"/>
              </a:spcAft>
              <a:defRPr sz="3000" b="1">
                <a:solidFill>
                  <a:srgbClr val="7053A6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42032"/>
            <a:ext cx="297180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696C78"/>
                </a:solidFill>
                <a:latin typeface="Aptos"/>
              </a:defRPr>
            </a:pPr>
            <a:r>
              <a:t>Images evaluated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69164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874519"/>
            <a:ext cx="2971800" cy="5943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700"/>
              </a:spcAft>
              <a:defRPr sz="3000" b="1">
                <a:solidFill>
                  <a:srgbClr val="37878B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542032"/>
            <a:ext cx="297180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696C78"/>
                </a:solidFill>
                <a:latin typeface="Aptos"/>
              </a:defRPr>
            </a:pPr>
            <a:r>
              <a:t>Correct predictions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69164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1874519"/>
            <a:ext cx="2971800" cy="5943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700"/>
              </a:spcAft>
              <a:defRPr sz="3000" b="1">
                <a:solidFill>
                  <a:srgbClr val="DEA94F"/>
                </a:solidFill>
                <a:latin typeface="Aptos"/>
              </a:defRPr>
            </a:pPr>
            <a:r>
              <a:t>95%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542032"/>
            <a:ext cx="297180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696C78"/>
                </a:solidFill>
                <a:latin typeface="Aptos"/>
              </a:defRPr>
            </a:pPr>
            <a:r>
              <a:t>Sample 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520440"/>
            <a:ext cx="50292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520440"/>
            <a:ext cx="73152" cy="1554480"/>
          </a:xfrm>
          <a:prstGeom prst="rect">
            <a:avLst/>
          </a:prstGeom>
          <a:solidFill>
            <a:srgbClr val="705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666744"/>
            <a:ext cx="466344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92744"/>
                </a:solidFill>
                <a:latin typeface="Aptos"/>
              </a:defRPr>
            </a:pPr>
            <a:r>
              <a:t>Original prompt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087368"/>
            <a:ext cx="4663440" cy="8961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19 / 20 correct — 95% sample accuracy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520440"/>
            <a:ext cx="50292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520440"/>
            <a:ext cx="73152" cy="1554480"/>
          </a:xfrm>
          <a:prstGeom prst="rect">
            <a:avLst/>
          </a:prstGeom>
          <a:solidFill>
            <a:srgbClr val="37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3666744"/>
            <a:ext cx="466344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92744"/>
                </a:solidFill>
                <a:latin typeface="Aptos"/>
              </a:defRPr>
            </a:pPr>
            <a:r>
              <a:t>Alternative prompt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4087368"/>
            <a:ext cx="4663440" cy="8961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19 / 20 correct — 95% sample 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77840"/>
            <a:ext cx="1024128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400" b="1">
                <a:solidFill>
                  <a:srgbClr val="192744"/>
                </a:solidFill>
                <a:latin typeface="Aptos"/>
              </a:defRPr>
            </a:pPr>
            <a:r>
              <a:t>Measured change: 0 percentage points. This does not establish full-dataset accuracy.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92744"/>
                </a:solidFill>
                <a:latin typeface="Aptos"/>
              </a:defRPr>
            </a:pPr>
            <a:r>
              <a:t>05  |  Failure Analysis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696C78"/>
                </a:solidFill>
                <a:latin typeface="Aptos"/>
              </a:defRPr>
            </a:pPr>
            <a:r>
              <a:t>One incorrect prediction was recorded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777240" cy="54864"/>
          </a:xfrm>
          <a:prstGeom prst="rect">
            <a:avLst/>
          </a:prstGeom>
          <a:solidFill>
            <a:srgbClr val="705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96C78"/>
                </a:solidFill>
                <a:latin typeface="Aptos"/>
              </a:defRPr>
            </a:pPr>
            <a:r>
              <a:t>06 /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73152" cy="3291840"/>
          </a:xfrm>
          <a:prstGeom prst="rect">
            <a:avLst/>
          </a:prstGeom>
          <a:solidFill>
            <a:srgbClr val="B04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92224"/>
            <a:ext cx="4754879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92744"/>
                </a:solidFill>
                <a:latin typeface="Aptos"/>
              </a:defRPr>
            </a:pPr>
            <a:r>
              <a:t>Recorded misclassification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12848"/>
            <a:ext cx="4754879" cy="2633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Image index: 419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Actual breed: Beagle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Predicted breed: Basset Hound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Reported CLIP score: 52.34%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Visual similarity is a possible explanation, not a confirmed cause.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1206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45920"/>
            <a:ext cx="73152" cy="3291840"/>
          </a:xfrm>
          <a:prstGeom prst="rect">
            <a:avLst/>
          </a:prstGeom>
          <a:solidFill>
            <a:srgbClr val="DE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792224"/>
            <a:ext cx="4754879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92744"/>
                </a:solidFill>
                <a:latin typeface="Aptos"/>
              </a:defRPr>
            </a:pPr>
            <a:r>
              <a:t>Important 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212848"/>
            <a:ext cx="4754879" cy="2633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• Only 20 images were evaluated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• The sample may not represent the full dataset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• CLIP scores depend on candidate labels and prompts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• Scores are not calibrated probabilities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• The alternative prompt did not improve sample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440680"/>
            <a:ext cx="1078992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696C78"/>
                </a:solidFill>
                <a:latin typeface="Aptos"/>
              </a:defRPr>
            </a:pPr>
            <a:r>
              <a:t>The experiment recorded one error; no additional errors have been invented.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06  |  Conclusion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777240" cy="54864"/>
          </a:xfrm>
          <a:prstGeom prst="rect">
            <a:avLst/>
          </a:prstGeom>
          <a:solidFill>
            <a:srgbClr val="CBB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489204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73152" cy="3063240"/>
          </a:xfrm>
          <a:prstGeom prst="rect">
            <a:avLst/>
          </a:prstGeom>
          <a:solidFill>
            <a:srgbClr val="705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837944"/>
            <a:ext cx="4526279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92744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258568"/>
            <a:ext cx="4526279" cy="24048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• CLIP classified the selected image sample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• Sample accuracy was 95%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• One misclassification was documented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• Prompt changes showed no measured improvement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691640"/>
            <a:ext cx="489204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691640"/>
            <a:ext cx="73152" cy="3063240"/>
          </a:xfrm>
          <a:prstGeom prst="rect">
            <a:avLst/>
          </a:prstGeom>
          <a:solidFill>
            <a:srgbClr val="37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6248" y="1837944"/>
            <a:ext cx="4526279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92744"/>
                </a:solidFill>
                <a:latin typeface="Aptos"/>
              </a:defRPr>
            </a:pPr>
            <a:r>
              <a:t>Future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2258568"/>
            <a:ext cx="4526279" cy="24048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• Evaluate a larger documented sample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• Inspect additional images systematically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• Compare prompts and models under the same conditions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2A2D37"/>
                </a:solidFill>
                <a:latin typeface="Aptos"/>
              </a:defRPr>
            </a:pPr>
            <a:r>
              <a:t>• Report limitations transparently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257800"/>
            <a:ext cx="6583680" cy="5943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5943600"/>
            <a:ext cx="98755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CBBEEA"/>
                </a:solidFill>
                <a:latin typeface="Aptos"/>
              </a:defRPr>
            </a:pPr>
            <a:r>
              <a:t>Image Classification Mini-Project with Hugging Face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